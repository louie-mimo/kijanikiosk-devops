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28816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KijaniKiosk DevOps Capstone • Track A • v1.0.0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83A2B"/>
          </a:solidFill>
          <a:ln w="12700">
            <a:solidFill>
              <a:srgbClr val="183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0080"/>
            <a:ext cx="1005840" cy="1005840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77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1874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KijaniKiosk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DevOps Capstone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3172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6D7"/>
                </a:solidFill>
              </a:rPr>
              <a:t>Track A — Infrastructure-First Delivery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59352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02336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RELEASE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407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v1.0.0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5010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6D7"/>
                </a:solidFill>
              </a:rPr>
              <a:t>Application image: kk-payments:v1.2.0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1960" y="960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A2B"/>
                </a:solidFill>
              </a:rPr>
              <a:t>Controlled delivery from code to production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79392" y="16276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7"/>
                </a:solidFill>
              </a:rPr>
              <a:t>Terraform • Ansible • Jenkins • Kubernetes • Security • Monitoring • AWS serverless receipts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4231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5420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3 / 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40740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Production replicas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07408" y="31363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available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24231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5420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3 / 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5562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Final CI tests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56248" y="31363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passed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95360" y="24231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25420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0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70508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Security audit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05088" y="31363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vulnerabilities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744200" y="2423160"/>
            <a:ext cx="9144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3928" y="254203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0%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10853928" y="289864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Stage error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853928" y="313639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final run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97680" y="3886200"/>
            <a:ext cx="7360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4142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F67"/>
                </a:solidFill>
              </a:rPr>
              <a:t>Release status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0" y="40142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4C"/>
                </a:solidFill>
              </a:rPr>
              <a:t>READY FOR SUBMISSION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733288" y="455371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Final audited master • annotated tag v1.0.0 pushed • no open pull requests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Mission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Build a production-style delivery system — not just a deployment.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1874520"/>
          </a:xfrm>
          <a:prstGeom prst="rect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08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Infrastructure as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892808"/>
            <a:ext cx="232257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Terraform provisions the staging namespace and AWS receipt resources. Ansible manages staging configuration and assertions.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325880"/>
            <a:ext cx="73152" cy="187452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508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Staging 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0168" y="1892808"/>
            <a:ext cx="232257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Every production deployment is preceded by staging configuration, deployment, smoke testing and monitoring.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325880"/>
            <a:ext cx="73152" cy="18745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508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Quality Gates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892808"/>
            <a:ext cx="232257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Unit/integration tests, npm audit, Terraform validation and an error-rate gate protect the promotion path.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32588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325880"/>
            <a:ext cx="73152" cy="1874520"/>
          </a:xfrm>
          <a:prstGeom prst="rect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15087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Cloud Extension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99448" y="1892808"/>
            <a:ext cx="218541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Successful staging payments publish receipts to S3 and trigger Lambda-based processing and notification.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2B"/>
                </a:solidFill>
              </a:rPr>
              <a:t>Final outcome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050792"/>
            <a:ext cx="10607040" cy="0"/>
          </a:xfrm>
          <a:prstGeom prst="line">
            <a:avLst/>
          </a:prstGeom>
          <a:noFill/>
          <a:ln w="15240">
            <a:solidFill>
              <a:srgbClr val="C8D8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3891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4988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Code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" y="4773168"/>
            <a:ext cx="1819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feature branch + PR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834640" y="4681728"/>
            <a:ext cx="502920" cy="310896"/>
          </a:xfrm>
          <a:prstGeom prst="chevron">
            <a:avLst/>
          </a:prstGeom>
          <a:solidFill>
            <a:srgbClr val="7B8C84"/>
          </a:solidFill>
          <a:ln w="12700">
            <a:solidFill>
              <a:srgbClr val="7B8C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43891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44988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Jenkins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74720" y="4773168"/>
            <a:ext cx="1819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CI + gates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468112" y="4681728"/>
            <a:ext cx="502920" cy="310896"/>
          </a:xfrm>
          <a:prstGeom prst="chevron">
            <a:avLst/>
          </a:prstGeom>
          <a:solidFill>
            <a:srgbClr val="7B8C84"/>
          </a:solidFill>
          <a:ln w="12700">
            <a:solidFill>
              <a:srgbClr val="7B8C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3891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3970">
            <a:solidFill>
              <a:srgbClr val="1F7A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44988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Staging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08192" y="4773168"/>
            <a:ext cx="1819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validate first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101584" y="4681728"/>
            <a:ext cx="502920" cy="310896"/>
          </a:xfrm>
          <a:prstGeom prst="chevron">
            <a:avLst/>
          </a:prstGeom>
          <a:solidFill>
            <a:srgbClr val="7B8C84"/>
          </a:solidFill>
          <a:ln w="12700">
            <a:solidFill>
              <a:srgbClr val="7B8C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68512" y="43891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5DB"/>
          </a:solidFill>
          <a:ln w="13970">
            <a:solidFill>
              <a:srgbClr val="B779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41664" y="44988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Approval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741664" y="4773168"/>
            <a:ext cx="1819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manual gate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10725912" y="4681728"/>
            <a:ext cx="411480" cy="310896"/>
          </a:xfrm>
          <a:prstGeom prst="chevron">
            <a:avLst/>
          </a:prstGeom>
          <a:solidFill>
            <a:srgbClr val="7B8C84"/>
          </a:solidFill>
          <a:ln w="12700">
            <a:solidFill>
              <a:srgbClr val="7B8C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37392" y="438912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E7F4EC"/>
          </a:solidFill>
          <a:ln w="13970">
            <a:solidFill>
              <a:srgbClr val="1F7A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10544" y="449884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Prod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210544" y="4773168"/>
            <a:ext cx="5852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3/3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The release architecture reflects the actual v1.0.0 implementation.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pic>
        <p:nvPicPr>
          <p:cNvPr id="5" name="Image 0" descr="/mnt/data/KijaniKiosk_Fina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10881360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Jenkins Delivery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Build #12 validates the final application source and completes staging-to-production promotion.</a:t>
            </a:r>
            <a:endParaRPr lang="en-US" sz="1150" dirty="0"/>
          </a:p>
        </p:txBody>
      </p:sp>
      <p:pic>
        <p:nvPicPr>
          <p:cNvPr id="4" name="Image 0" descr="/mnt/data/9dae2424-aab7-42fa-b509-0cac990351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34440"/>
            <a:ext cx="6537960" cy="2203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966960" y="9418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40112" y="100584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C"/>
                </a:solidFill>
              </a:rPr>
              <a:t>BUILD #12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836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F67"/>
                </a:solidFill>
              </a:rPr>
              <a:t>Final CI source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16002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A2B"/>
                </a:solidFill>
              </a:rPr>
              <a:t>deployment-pipeline/containers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2057400"/>
            <a:ext cx="406908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A24"/>
                </a:solidFill>
              </a:rPr>
              <a:t>This closed the final traceability gap: Jenkins now tests the same receipt-capable source represented by the deployed v1.2.0 image.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" y="379476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9044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CI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417880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Lint • Build • Tests • Security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419856" y="379476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3008" y="39044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Validate Infrastructure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93008" y="417880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Terraform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81344" y="379476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54496" y="39044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Configure Staging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54496" y="417880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Ansible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942832" y="379476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15984" y="39044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Deploy Staging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15984" y="417880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Kubernetes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58368" y="475488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86460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Smoke + Error Rate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1520" y="513892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0% final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3419856" y="475488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FFF5DB"/>
          </a:solidFill>
          <a:ln w="13970">
            <a:solidFill>
              <a:srgbClr val="B7791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93008" y="486460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Production Approval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493008" y="513892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Manual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6181344" y="4754880"/>
            <a:ext cx="2395728" cy="694944"/>
          </a:xfrm>
          <a:prstGeom prst="roundRect">
            <a:avLst>
              <a:gd name="adj" fmla="val 7895"/>
            </a:avLst>
          </a:prstGeom>
          <a:solidFill>
            <a:srgbClr val="E7F4EC"/>
          </a:solidFill>
          <a:ln w="13970">
            <a:solidFill>
              <a:srgbClr val="1F7A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54496" y="486460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Deploy Production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254496" y="5138928"/>
            <a:ext cx="2249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3/3 replicas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8915400" y="5623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F67"/>
                </a:solidFill>
              </a:rPr>
              <a:t>Publish to Nexus remains optional and was skipped in the final capstone run.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Separation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One image and one Deployment manifest; environment behavior comes from configuration.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0F8F3"/>
          </a:solidFill>
          <a:ln w="19050">
            <a:solidFill>
              <a:srgbClr val="1F7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4C"/>
                </a:solidFill>
              </a:rPr>
              <a:t>STAGING — kijani-staging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NODE_ENV=staging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DB_HOST=kk-postgres-staging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AWS_REGION=eu-north-1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RECEIPTS_BUCKET=kk-payments-receipts-staging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88620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95020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C"/>
                </a:solidFill>
              </a:rPr>
              <a:t>RECEIPTS ENABLED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Payment → S3 → Lambda processor → notifier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5F7F6"/>
          </a:solidFill>
          <a:ln w="16510">
            <a:solidFill>
              <a:srgbClr val="9AA8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A2B"/>
                </a:solidFill>
              </a:rPr>
              <a:t>PRODUCTION — kijani-project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NODE_ENV=production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DB_HOST=kk-postgres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A24"/>
                </a:solidFill>
              </a:rPr>
              <a:t>RECEIPTS_BUCKET=unset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388620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ECEFED"/>
          </a:solidFill>
          <a:ln w="12700">
            <a:solidFill>
              <a:srgbClr val="ECE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395020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F67"/>
                </a:solidFill>
              </a:rPr>
              <a:t>RECEIPTS DISABLED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44348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Production remains isolated from the staging-only AWS receipt chain.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571500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183A2B"/>
          </a:solidFill>
          <a:ln w="12700">
            <a:solidFill>
              <a:srgbClr val="183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58613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Same manifest • same v1.2.0 image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Monitoring Gates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Quality signals must pass before a human can promote to production.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447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3 / 3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Receipt tests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0391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passed in final CI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4447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355848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npm audit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20391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vulnerabilities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0" y="132588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448" y="14447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6F95"/>
                </a:solidFill>
              </a:rPr>
              <a:t>20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870448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Staging probes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70448" y="20391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live health requests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75320" y="132588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4447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7A4C"/>
                </a:solidFill>
              </a:rPr>
              <a:t>0.00%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85048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A2B"/>
                </a:solidFill>
              </a:rPr>
              <a:t>Final error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85048" y="20391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F67"/>
                </a:solidFill>
              </a:rPr>
              <a:t>HEALTHY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A2B"/>
                </a:solidFill>
              </a:rPr>
              <a:t>Security gate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C"/>
                </a:solidFill>
              </a:rPr>
              <a:t>npm audit --audit-level=high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069080"/>
            <a:ext cx="41605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</a:rPr>
              <a:t>High-severity dependency findings fail CI. The final audited dependency set reports zero vulnerabilities.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2880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A2B"/>
                </a:solidFill>
              </a:rPr>
              <a:t>Monitoring gate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ERROR_RATE &gt; 5%  →  ALERT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069080"/>
            <a:ext cx="443484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</a:rPr>
              <a:t>Boundary test: 5.00% remains HEALTHY, 10.00% alerts. A failed monitor stage blocks Production Approval.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Staging Receipt Chain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A successful staging payment triggers an event-driven receipt-processing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7F4EC"/>
          </a:solidFill>
          <a:ln w="13970">
            <a:solidFill>
              <a:srgbClr val="1F7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121408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kk-payments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2395728"/>
            <a:ext cx="15453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successful /payment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304288" y="2340864"/>
            <a:ext cx="438912" cy="310896"/>
          </a:xfrm>
          <a:prstGeom prst="chevron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201168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21214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S3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62072" y="2395728"/>
            <a:ext cx="13624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incoming/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407408" y="2340864"/>
            <a:ext cx="438912" cy="310896"/>
          </a:xfrm>
          <a:prstGeom prst="chevron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201168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12140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Receipt Processor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65192" y="2395728"/>
            <a:ext cx="15910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Lambda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739128" y="2340864"/>
            <a:ext cx="438912" cy="310896"/>
          </a:xfrm>
          <a:prstGeom prst="chevron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01168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21214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S3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96912" y="2395728"/>
            <a:ext cx="13624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processed/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PROCESSED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842248" y="2340864"/>
            <a:ext cx="438912" cy="310896"/>
          </a:xfrm>
          <a:prstGeom prst="chevron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01168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C8D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21214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Notifier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00032" y="2395728"/>
            <a:ext cx="1271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Lambda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0853928" y="2340864"/>
            <a:ext cx="365760" cy="310896"/>
          </a:xfrm>
          <a:prstGeom prst="chevron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28832" y="2011680"/>
            <a:ext cx="731520" cy="1005840"/>
          </a:xfrm>
          <a:prstGeom prst="roundRect">
            <a:avLst>
              <a:gd name="adj" fmla="val 7500"/>
            </a:avLst>
          </a:prstGeom>
          <a:solidFill>
            <a:srgbClr val="E7F4EC"/>
          </a:solidFill>
          <a:ln w="13970">
            <a:solidFill>
              <a:srgbClr val="1F7A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01984" y="21214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3A2B"/>
                </a:solidFill>
              </a:rPr>
              <a:t>S3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01984" y="2395728"/>
            <a:ext cx="5852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F67"/>
                </a:solidFill>
              </a:rPr>
              <a:t>SENT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349240" y="3154680"/>
            <a:ext cx="4754880" cy="0"/>
          </a:xfrm>
          <a:prstGeom prst="line">
            <a:avLst/>
          </a:prstGeom>
          <a:noFill/>
          <a:ln w="12700">
            <a:solidFill>
              <a:srgbClr val="5F6F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2461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67"/>
                </a:solidFill>
              </a:rPr>
              <a:t>CloudWatch logs capture receipt_processed and receipt_notification_sent events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4160520"/>
            <a:ext cx="10287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A2B"/>
                </a:solidFill>
              </a:rPr>
              <a:t>End-to-end proof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80360" y="4407408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A24"/>
                </a:solidFill>
              </a:rPr>
              <a:t>The same receipt ID was verified in the payment response, S3 incoming object, processor log, processed object, notifier log and notification object.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61120" y="498348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FFF5DB"/>
          </a:solidFill>
          <a:ln w="12700">
            <a:solidFill>
              <a:srgbClr val="FFF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272" y="5047488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</a:rPr>
              <a:t>STAGING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Failure, Recovery &amp; Governance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The final solution includes operational recovery and transparent engineering governance.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87452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0876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Failure &amp; Recovery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892808"/>
            <a:ext cx="309981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A deliberately invalid image demonstrated rollout failure. Kubernetes rollout history and rollback restored the known-good image.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25880"/>
            <a:ext cx="73152" cy="187452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0876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AI Governance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892808"/>
            <a:ext cx="309981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AI output was reviewed, tested and corrected before use. The governance log records what was right, wrong and changed.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3258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8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1325880"/>
            <a:ext cx="73152" cy="1874520"/>
          </a:xfrm>
          <a:prstGeom prst="rect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50876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2B"/>
                </a:solidFill>
              </a:rPr>
              <a:t>Repository Hygiene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57032" y="1892808"/>
            <a:ext cx="309981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A24"/>
                </a:solidFill>
              </a:rPr>
              <a:t>Secret scans passed, generated Terraform plans/state are excluded, and obsolete tracked plan artifacts were removed.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10799064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12700">
            <a:solidFill>
              <a:srgbClr val="E3D7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416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791F"/>
                </a:solidFill>
              </a:rPr>
              <a:t>Transparent limitation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80360" y="3986784"/>
            <a:ext cx="78638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A24"/>
                </a:solidFill>
              </a:rPr>
              <a:t>Formal peer review was not completed because no peer reviewer was available. The project does not fabricate peer feedback or treat AI/self-review as peer review.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7"/>
                </a:solidFill>
              </a:rPr>
              <a:t>Technical confidence comes from automated tests, security gates, infrastructure validation, pull requests, live deployment checks and the final successful Jenkins run.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Release State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7"/>
                </a:solidFill>
              </a:rPr>
              <a:t>The audited capstone is frozen on master and tagged for submission.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703320" cy="4526280"/>
          </a:xfrm>
          <a:prstGeom prst="roundRect">
            <a:avLst>
              <a:gd name="adj" fmla="val 1975"/>
            </a:avLst>
          </a:prstGeom>
          <a:solidFill>
            <a:srgbClr val="183A2B"/>
          </a:solidFill>
          <a:ln w="12700">
            <a:solidFill>
              <a:srgbClr val="183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v1.0.0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E6D7"/>
                </a:solidFill>
              </a:rPr>
              <a:t>FINAL RELEASE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3035808"/>
            <a:ext cx="301752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Release commit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fb731f540efb52b27e1f3eba2ba59189fa110494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25880" y="416052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422452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OPEN PRs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4800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E6D7"/>
                </a:solidFill>
              </a:rPr>
              <a:t>Annotated tag pushed to origin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A2B"/>
                </a:solidFill>
              </a:rPr>
              <a:t>Final audit checklist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19472" y="1984248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2332" y="1965960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0368" y="1965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Root README finalized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919472" y="2368296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2332" y="2350008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0368" y="23500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Architecture source + PNG/SVG committed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919472" y="2752344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2332" y="2734056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7340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One-page scope PDF committed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919472" y="3136392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2332" y="3118104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31181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Presentation deck committed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919472" y="3520440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2332" y="35021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35021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Reflection + AI governance log committed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4919472" y="3904488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42332" y="3886200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38862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Terraform + serverless Terraform valid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4919472" y="4288536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2332" y="4270248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0368" y="42702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Ansible + shell syntax checks pass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4919472" y="4672584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2332" y="4654296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0368" y="46542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3/3 tests pass; npm audit = 0 vulnerabilities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4919472" y="5056632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2332" y="5038344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30368" y="5038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Production v1.2.0 = 3/3 replicas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4919472" y="5440680"/>
            <a:ext cx="201168" cy="201168"/>
          </a:xfrm>
          <a:prstGeom prst="ellipse">
            <a:avLst/>
          </a:prstGeom>
          <a:solidFill>
            <a:srgbClr val="1F7A4C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42332" y="542239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30368" y="5422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D2A24"/>
                </a:solidFill>
              </a:rPr>
              <a:t>v1.0.0 tag pushed successfully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4892040" y="592531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C"/>
                </a:solidFill>
              </a:rPr>
              <a:t>KijaniKiosk Track A is ready for submission and live demonstration.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KijaniKiosk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KijaniKiosk DevOps Capstone — Final Release v1.0.0</dc:title>
  <dc:subject>KijaniKiosk DevOps Capstone Track A</dc:subject>
  <dc:creator>Louie-Mimo</dc:creator>
  <cp:lastModifiedBy>Louie-Mimo</cp:lastModifiedBy>
  <cp:revision>1</cp:revision>
  <dcterms:created xsi:type="dcterms:W3CDTF">2026-08-17T04:37:21Z</dcterms:created>
  <dcterms:modified xsi:type="dcterms:W3CDTF">2026-08-17T04:37:21Z</dcterms:modified>
</cp:coreProperties>
</file>